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a1a6f5a60343b9" /><Relationship Type="http://schemas.openxmlformats.org/officeDocument/2006/relationships/extended-properties" Target="/docProps/app.xml" Id="R4f729aeed6fa4201" /><Relationship Type="http://schemas.openxmlformats.org/officeDocument/2006/relationships/officeDocument" Target="/ppt/presentation.xml" Id="R67169e05b8f145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1ec396c9474626"/>
  </p:sldMasterIdLst>
  <p:notesMasterIdLst>
    <p:notesMasterId xmlns:r="http://schemas.openxmlformats.org/officeDocument/2006/relationships" r:id="Rb5bf3fbc9e3f4e10"/>
  </p:notesMasterIdLst>
  <p:sldIdLst>
    <p:sldId xmlns:r="http://schemas.openxmlformats.org/officeDocument/2006/relationships" id="256" r:id="R309b7363d62540bf"/>
    <p:sldId xmlns:r="http://schemas.openxmlformats.org/officeDocument/2006/relationships" id="257" r:id="R7ebd245be1f6446e"/>
    <p:sldId xmlns:r="http://schemas.openxmlformats.org/officeDocument/2006/relationships" id="258" r:id="R64a27220da994695"/>
    <p:sldId xmlns:r="http://schemas.openxmlformats.org/officeDocument/2006/relationships" id="259" r:id="R07daf402c700416b"/>
    <p:sldId xmlns:r="http://schemas.openxmlformats.org/officeDocument/2006/relationships" id="260" r:id="Rcc83077f51584334"/>
    <p:sldId xmlns:r="http://schemas.openxmlformats.org/officeDocument/2006/relationships" id="261" r:id="R66685a65cff74f3d"/>
    <p:sldId xmlns:r="http://schemas.openxmlformats.org/officeDocument/2006/relationships" id="262" r:id="R90323dc05b424d52"/>
    <p:sldId xmlns:r="http://schemas.openxmlformats.org/officeDocument/2006/relationships" id="263" r:id="Rac3d8f32ade846ae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800f8dc5e4e56" /><Relationship Type="http://schemas.openxmlformats.org/officeDocument/2006/relationships/slideMaster" Target="/ppt/slideMasters/slideMaster1.xml" Id="R941ec396c9474626" /><Relationship Type="http://schemas.openxmlformats.org/officeDocument/2006/relationships/notesMaster" Target="/ppt/notesMasters/notesMaster1.xml" Id="Rb5bf3fbc9e3f4e10" /><Relationship Type="http://schemas.openxmlformats.org/officeDocument/2006/relationships/presProps" Target="/ppt/presProps.xml" Id="R7e216b671ebd49d0" /><Relationship Type="http://schemas.openxmlformats.org/officeDocument/2006/relationships/tableStyles" Target="/ppt/tableStyles.xml" Id="R8b38e09f9ef84a7f" /><Relationship Type="http://schemas.openxmlformats.org/officeDocument/2006/relationships/slide" Target="/ppt/slides/slide1.xml" Id="R309b7363d62540bf" /><Relationship Type="http://schemas.openxmlformats.org/officeDocument/2006/relationships/slide" Target="/ppt/slides/slide2.xml" Id="R7ebd245be1f6446e" /><Relationship Type="http://schemas.openxmlformats.org/officeDocument/2006/relationships/slide" Target="/ppt/slides/slide3.xml" Id="R64a27220da994695" /><Relationship Type="http://schemas.openxmlformats.org/officeDocument/2006/relationships/slide" Target="/ppt/slides/slide4.xml" Id="R07daf402c700416b" /><Relationship Type="http://schemas.openxmlformats.org/officeDocument/2006/relationships/slide" Target="/ppt/slides/slide5.xml" Id="Rcc83077f51584334" /><Relationship Type="http://schemas.openxmlformats.org/officeDocument/2006/relationships/slide" Target="/ppt/slides/slide6.xml" Id="R66685a65cff74f3d" /><Relationship Type="http://schemas.openxmlformats.org/officeDocument/2006/relationships/slide" Target="/ppt/slides/slide7.xml" Id="R90323dc05b424d52" /><Relationship Type="http://schemas.openxmlformats.org/officeDocument/2006/relationships/slide" Target="/ppt/slides/slide8.xml" Id="Rac3d8f32ade8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879edf45b44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78fffc77a49ae" /><Relationship Type="http://schemas.openxmlformats.org/officeDocument/2006/relationships/notesMaster" Target="/ppt/notesMasters/notesMaster1.xml" Id="R149d21e0a91347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9726b984604db3" /><Relationship Type="http://schemas.openxmlformats.org/officeDocument/2006/relationships/notesMaster" Target="/ppt/notesMasters/notesMaster1.xml" Id="Rfb2517b2ff6b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813afbbd14f28" /><Relationship Type="http://schemas.openxmlformats.org/officeDocument/2006/relationships/notesMaster" Target="/ppt/notesMasters/notesMaster1.xml" Id="Re1b3e08a5b9440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4b02b045cd4c5b" /><Relationship Type="http://schemas.openxmlformats.org/officeDocument/2006/relationships/notesMaster" Target="/ppt/notesMasters/notesMaster1.xml" Id="Ra142637562934b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43f2cf3ea74be0" /><Relationship Type="http://schemas.openxmlformats.org/officeDocument/2006/relationships/notesMaster" Target="/ppt/notesMasters/notesMaster1.xml" Id="R2eb4266413d24e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e2ce3fbd5949d8" /><Relationship Type="http://schemas.openxmlformats.org/officeDocument/2006/relationships/notesMaster" Target="/ppt/notesMasters/notesMaster1.xml" Id="R8186a8d835fd4a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83deaad1964ada" /><Relationship Type="http://schemas.openxmlformats.org/officeDocument/2006/relationships/notesMaster" Target="/ppt/notesMasters/notesMaster1.xml" Id="Rfcf9f4afe69b42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69a6af3c04644" /><Relationship Type="http://schemas.openxmlformats.org/officeDocument/2006/relationships/notesMaster" Target="/ppt/notesMasters/notesMaster1.xml" Id="Rc87b6e556262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b50b0daf1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32ad071e834c7c" /><Relationship Type="http://schemas.openxmlformats.org/officeDocument/2006/relationships/slideLayout" Target="/ppt/slideLayouts/slideLayout1.xml" Id="R2df870e82d9f4b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870e82d9f4b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873e996c445f3" /><Relationship Type="http://schemas.openxmlformats.org/officeDocument/2006/relationships/notesSlide" Target="/ppt/notesSlides/notesSlide1.xml" Id="R1a817b6e41c54e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fbfa36fc145a3" /><Relationship Type="http://schemas.openxmlformats.org/officeDocument/2006/relationships/notesSlide" Target="/ppt/notesSlides/notesSlide2.xml" Id="R51d27cc3d712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13bad71f546d1" /><Relationship Type="http://schemas.openxmlformats.org/officeDocument/2006/relationships/notesSlide" Target="/ppt/notesSlides/notesSlide3.xml" Id="R479e3e53bb0e45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10366c30542ee" /><Relationship Type="http://schemas.openxmlformats.org/officeDocument/2006/relationships/notesSlide" Target="/ppt/notesSlides/notesSlide4.xml" Id="R9857ccc29ee346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cd5f7b0b84228" /><Relationship Type="http://schemas.openxmlformats.org/officeDocument/2006/relationships/notesSlide" Target="/ppt/notesSlides/notesSlide5.xml" Id="R59b1b18984e4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170f618874dd8" /><Relationship Type="http://schemas.openxmlformats.org/officeDocument/2006/relationships/chart" Target="/ppt/slides/charts/chart1.xml" Id="R17b008c549eb4ce0" /><Relationship Type="http://schemas.openxmlformats.org/officeDocument/2006/relationships/notesSlide" Target="/ppt/notesSlides/notesSlide6.xml" Id="Ra7fed5f2462a44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b8f26c7714745" /><Relationship Type="http://schemas.openxmlformats.org/officeDocument/2006/relationships/notesSlide" Target="/ppt/notesSlides/notesSlide7.xml" Id="R5559052c599943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b3beb9ae140dc" /><Relationship Type="http://schemas.openxmlformats.org/officeDocument/2006/relationships/notesSlide" Target="/ppt/notesSlides/notesSlide8.xml" Id="R622d0d2f6de7446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Lower</c:v>
          </c:tx>
          <c:spPr>
            <a:solidFill xmlns:a="http://schemas.openxmlformats.org/drawingml/2006/main">
              <a:srgbClr val="93C5FD"/>
            </a:solidFill>
          </c:spPr>
          <c:marker>
            <c:symbol val="none"/>
          </c:marker>
          <c:cat>
            <c:strLit>
              <c:ptCount val="14"/>
              <c:pt idx="0">
                <c:v>05-01</c:v>
              </c:pt>
              <c:pt idx="1">
                <c:v>05-08</c:v>
              </c:pt>
              <c:pt idx="2">
                <c:v>05-15</c:v>
              </c:pt>
              <c:pt idx="3">
                <c:v>05-22</c:v>
              </c:pt>
              <c:pt idx="4">
                <c:v>05-29</c:v>
              </c:pt>
              <c:pt idx="5">
                <c:v>06-05</c:v>
              </c:pt>
              <c:pt idx="6">
                <c:v>06-12</c:v>
              </c:pt>
              <c:pt idx="7">
                <c:v>06-19</c:v>
              </c:pt>
              <c:pt idx="8">
                <c:v>06-26</c:v>
              </c:pt>
              <c:pt idx="9">
                <c:v>07-03</c:v>
              </c:pt>
              <c:pt idx="10">
                <c:v>07-10</c:v>
              </c:pt>
              <c:pt idx="11">
                <c:v>07-17</c:v>
              </c:pt>
              <c:pt idx="12">
                <c:v>07-24</c:v>
              </c:pt>
              <c:pt idx="13">
                <c:v>07-31</c:v>
              </c:pt>
            </c:strLit>
          </c:cat>
          <c:val>
            <c:numLit>
              <c:formatCode>General</c:formatCode>
              <c:ptCount val="14"/>
              <c:pt idx="0">
                <c:v>82.5</c:v>
              </c:pt>
              <c:pt idx="1">
                <c:v>84.9</c:v>
              </c:pt>
              <c:pt idx="2">
                <c:v>85.6</c:v>
              </c:pt>
              <c:pt idx="3">
                <c:v>91.4</c:v>
              </c:pt>
              <c:pt idx="4">
                <c:v>94.3</c:v>
              </c:pt>
              <c:pt idx="5">
                <c:v>95.5</c:v>
              </c:pt>
              <c:pt idx="6">
                <c:v>94.2</c:v>
              </c:pt>
              <c:pt idx="7">
                <c:v>92.1</c:v>
              </c:pt>
              <c:pt idx="8">
                <c:v>92.1</c:v>
              </c:pt>
              <c:pt idx="9">
                <c:v>94.7</c:v>
              </c:pt>
              <c:pt idx="10">
                <c:v>95.9</c:v>
              </c:pt>
              <c:pt idx="11">
                <c:v>94.7</c:v>
              </c:pt>
              <c:pt idx="12">
                <c:v>92</c:v>
              </c:pt>
              <c:pt idx="13">
                <c:v>92</c:v>
              </c:pt>
            </c:numLit>
          </c:val>
        </c:ser>
        <c:ser>
          <c:idx val="1"/>
          <c:order val="1"/>
          <c:tx>
            <c:v>Forecast</c:v>
          </c:tx>
          <c:spPr>
            <a:solidFill xmlns:a="http://schemas.openxmlformats.org/drawingml/2006/main">
              <a:srgbClr val="2563EB"/>
            </a:solidFill>
          </c:spPr>
          <c:marker>
            <c:symbol val="none"/>
          </c:marker>
          <c:cat>
            <c:strLit>
              <c:ptCount val="14"/>
              <c:pt idx="0">
                <c:v>05-01</c:v>
              </c:pt>
              <c:pt idx="1">
                <c:v>05-08</c:v>
              </c:pt>
              <c:pt idx="2">
                <c:v>05-15</c:v>
              </c:pt>
              <c:pt idx="3">
                <c:v>05-22</c:v>
              </c:pt>
              <c:pt idx="4">
                <c:v>05-29</c:v>
              </c:pt>
              <c:pt idx="5">
                <c:v>06-05</c:v>
              </c:pt>
              <c:pt idx="6">
                <c:v>06-12</c:v>
              </c:pt>
              <c:pt idx="7">
                <c:v>06-19</c:v>
              </c:pt>
              <c:pt idx="8">
                <c:v>06-26</c:v>
              </c:pt>
              <c:pt idx="9">
                <c:v>07-03</c:v>
              </c:pt>
              <c:pt idx="10">
                <c:v>07-10</c:v>
              </c:pt>
              <c:pt idx="11">
                <c:v>07-17</c:v>
              </c:pt>
              <c:pt idx="12">
                <c:v>07-24</c:v>
              </c:pt>
              <c:pt idx="13">
                <c:v>07-31</c:v>
              </c:pt>
            </c:strLit>
          </c:cat>
          <c:val>
            <c:numLit>
              <c:formatCode>General</c:formatCode>
              <c:ptCount val="14"/>
              <c:pt idx="0">
                <c:v>84.7</c:v>
              </c:pt>
              <c:pt idx="1">
                <c:v>87</c:v>
              </c:pt>
              <c:pt idx="2">
                <c:v>87.7</c:v>
              </c:pt>
              <c:pt idx="3">
                <c:v>93.4</c:v>
              </c:pt>
              <c:pt idx="4">
                <c:v>96.4</c:v>
              </c:pt>
              <c:pt idx="5">
                <c:v>97.4</c:v>
              </c:pt>
              <c:pt idx="6">
                <c:v>96.3</c:v>
              </c:pt>
              <c:pt idx="7">
                <c:v>94.3</c:v>
              </c:pt>
              <c:pt idx="8">
                <c:v>94.2</c:v>
              </c:pt>
              <c:pt idx="9">
                <c:v>96.8</c:v>
              </c:pt>
              <c:pt idx="10">
                <c:v>98.2</c:v>
              </c:pt>
              <c:pt idx="11">
                <c:v>96.7</c:v>
              </c:pt>
              <c:pt idx="12">
                <c:v>94.2</c:v>
              </c:pt>
              <c:pt idx="13">
                <c:v>94.2</c:v>
              </c:pt>
            </c:numLit>
          </c:val>
        </c:ser>
        <c:ser>
          <c:idx val="2"/>
          <c:order val="2"/>
          <c:tx>
            <c:v>Upper</c:v>
          </c:tx>
          <c:spPr>
            <a:solidFill xmlns:a="http://schemas.openxmlformats.org/drawingml/2006/main">
              <a:srgbClr val="14B8A6"/>
            </a:solidFill>
          </c:spPr>
          <c:marker>
            <c:symbol val="none"/>
          </c:marker>
          <c:cat>
            <c:strLit>
              <c:ptCount val="14"/>
              <c:pt idx="0">
                <c:v>05-01</c:v>
              </c:pt>
              <c:pt idx="1">
                <c:v>05-08</c:v>
              </c:pt>
              <c:pt idx="2">
                <c:v>05-15</c:v>
              </c:pt>
              <c:pt idx="3">
                <c:v>05-22</c:v>
              </c:pt>
              <c:pt idx="4">
                <c:v>05-29</c:v>
              </c:pt>
              <c:pt idx="5">
                <c:v>06-05</c:v>
              </c:pt>
              <c:pt idx="6">
                <c:v>06-12</c:v>
              </c:pt>
              <c:pt idx="7">
                <c:v>06-19</c:v>
              </c:pt>
              <c:pt idx="8">
                <c:v>06-26</c:v>
              </c:pt>
              <c:pt idx="9">
                <c:v>07-03</c:v>
              </c:pt>
              <c:pt idx="10">
                <c:v>07-10</c:v>
              </c:pt>
              <c:pt idx="11">
                <c:v>07-17</c:v>
              </c:pt>
              <c:pt idx="12">
                <c:v>07-24</c:v>
              </c:pt>
              <c:pt idx="13">
                <c:v>07-31</c:v>
              </c:pt>
            </c:strLit>
          </c:cat>
          <c:val>
            <c:numLit>
              <c:formatCode>General</c:formatCode>
              <c:ptCount val="14"/>
              <c:pt idx="0">
                <c:v>86.8</c:v>
              </c:pt>
              <c:pt idx="1">
                <c:v>89</c:v>
              </c:pt>
              <c:pt idx="2">
                <c:v>89.9</c:v>
              </c:pt>
              <c:pt idx="3">
                <c:v>95.5</c:v>
              </c:pt>
              <c:pt idx="4">
                <c:v>98.5</c:v>
              </c:pt>
              <c:pt idx="5">
                <c:v>99.5</c:v>
              </c:pt>
              <c:pt idx="6">
                <c:v>98.4</c:v>
              </c:pt>
              <c:pt idx="7">
                <c:v>96.6</c:v>
              </c:pt>
              <c:pt idx="8">
                <c:v>96.2</c:v>
              </c:pt>
              <c:pt idx="9">
                <c:v>98.9</c:v>
              </c:pt>
              <c:pt idx="10">
                <c:v>100.3</c:v>
              </c:pt>
              <c:pt idx="11">
                <c:v>98.9</c:v>
              </c:pt>
              <c:pt idx="12">
                <c:v>96.3</c:v>
              </c:pt>
              <c:pt idx="13">
                <c:v>96.2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F7003-301E-43F0-B42F-6F470017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BATCH FORECASTING, MADE INSPECTABLE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A0751-4F7B-4879-9069-B425979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6628D-44CC-46D7-BABC-F356FDF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2F4D9-C2A7-4F2C-A25E-7BAF1850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E3A1D-658B-4EC6-A0E2-A5DCC039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Prophet forecasting,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engineered for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repeatable batch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870A0-7CE0-4E7D-AD69-FFA77A7C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809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 coordinated model collection with time-aware evaluation, lineage, and stable Delta outputs.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98B04-A2D0-459C-81B2-7AFE9707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07199">
            <a:off x="742950" y="8286750"/>
            <a:ext cx="127862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37100-FBAE-4B62-8FFF-389C515E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1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41AB4-1780-4CDD-8807-1DE23A2B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305">
            <a:off x="1809750" y="7581900"/>
            <a:ext cx="153586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1E8E0-F501-4260-8606-74A6387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50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226E3-9BBD-440F-BFF3-6DC5AB15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91267">
            <a:off x="2876550" y="8686800"/>
            <a:ext cx="130001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42D1A-C45C-411A-9F61-1F6B376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10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6CF01-63A6-48C1-8EE6-9A87D889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05407">
            <a:off x="3943350" y="7943850"/>
            <a:ext cx="146882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CF0CA-ACC1-423D-92FF-D580CBD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86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9794-06BE-49DF-B59B-A8FFA0E3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28844">
            <a:off x="5010150" y="8953500"/>
            <a:ext cx="162003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C1ED4-CA1E-4646-A3F0-9F56C0E6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8877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21FEE-6AAB-4C05-A22E-1104BDAA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1147">
            <a:off x="6076950" y="7734300"/>
            <a:ext cx="13450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1976E-B99D-439B-9328-B125714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658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E80D1-36E7-4535-B73A-1DBB79D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05407">
            <a:off x="7143750" y="8553450"/>
            <a:ext cx="146882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3EBC5-5C51-45B3-9C3F-C2B7356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47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73D8D-4866-4B14-B0F8-30FA8AE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36078">
            <a:off x="8210550" y="7543800"/>
            <a:ext cx="140505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55392-F11C-4D9D-8712-F9160746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46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99BAF-BFED-4955-AF10-7DD60748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382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87FA4-8FAD-4FCA-A495-0F484E1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77450"/>
            <a:ext cx="1809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60840-07C2-4E62-8109-8E36F76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10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OPTUNA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C7C14-6552-4354-91C9-55C49971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077450"/>
            <a:ext cx="1809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68861-78E2-42B0-A41B-1188EB90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210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MLFLOW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BF640-34D2-445D-A9F6-ADA2F653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077450"/>
            <a:ext cx="1619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0519ED-1333-4E94-9301-55BADA53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210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DELTA</a:t>
            </a:r>
          </a:p>
        </p:txBody>
      </p:sp>
    </p:spTree>
    <p:extLst>
      <p:ext uri="{BB962C8B-B14F-4D97-AF65-F5344CB8AC3E}">
        <p14:creationId xmlns:p14="http://schemas.microsoft.com/office/powerpoint/2010/main" val="2112136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373B2-B7AF-489F-BB11-B69292E8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THE COORDINATION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E8FB5-BB43-47D4-BCD8-78ECDF0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B74A2-D2C4-4173-837C-E2CC6C43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277D5-A047-44CB-AA18-91487EFC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445F9-E67B-4ECB-A157-C5221E3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forecasting pipeline is more than one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A3F77-F64F-4A56-9D6C-E1213B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runtime must coordinate every distinct series with both configured targets.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88019-AF9C-4333-807C-0AAF000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0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E29FE-0FBB-437B-8AC5-172856BA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72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1FBAB-8202-4D71-B9A2-41D65E6F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292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722A1-3E99-4CA2-AEEA-01C8D86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35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035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40770-9F7B-41B1-8D1E-AEA3848A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572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TARGETS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CFE90-7C57-448C-8EC5-6847612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858125"/>
            <a:ext cx="581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26A8C-F1BF-40B0-8CFD-2C303046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E62D9-D02B-4AD8-B69F-ED11FDDA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791575"/>
            <a:ext cx="1295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C4765-7248-4693-AFA8-C5AFADFC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58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591A8-CB3E-41BD-85AD-3F08077E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59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1ADEB-6B02-4538-B625-FCBC5AC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791575"/>
            <a:ext cx="1295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094D7-8543-444C-8BBF-B04C617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258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tune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92A3C-48A5-4778-BADE-C74767E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859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E3AB7-8BB7-46B5-85B6-A91EABB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791575"/>
            <a:ext cx="1295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A100F-FCD2-4835-BD3D-069C43AB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9258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67F49-0967-4B5F-85FA-196FF7A5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859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B7D6A-1161-47AE-8989-DC1D875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91575"/>
            <a:ext cx="1295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F0C56-3AC7-4CE3-8C58-A252A02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9258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51F58-0029-40CA-B0F8-DF937B0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859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2F877-BAE2-4578-9EDE-896AF59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9258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1785314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F27CA-EA5F-4C0D-9CF5-731978EE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A NARROW PLATFORM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9BEB9-6B9B-492C-A2AD-49A4D400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3426C-8DC2-4CBB-A35F-4F9FB913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20AEE-DC90-4224-A94A-C63CA44D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E1D0E-2031-43DB-9F26-AF98E71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Forecasting code stays ordinary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00ED2-B8FF-4709-B234-A8F32A9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Databricks handles delivery concerns at the 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A3C6B-F3BA-4593-A105-A9E320F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915400" cy="619125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5056C-C610-414C-BCE0-407E21E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3171825" cy="6191250"/>
          </a:xfrm>
          <a:prstGeom xmlns:a="http://schemas.openxmlformats.org/drawingml/2006/main" prst="roundRect">
            <a:avLst>
              <a:gd name="adj" fmla="val 480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0804E-CBAE-4FFE-A1EE-A6B34A40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ORDINARY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0FD7F-8EFF-4354-A2F1-CE649620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4667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B545A-3381-4492-A358-1E448717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959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validated 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0AFD5-BBEB-4DCE-AA7C-C7EF0300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4667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125B8-7E6F-4AF9-8D88-E17F3AEB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531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data contracts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1F252-7AB8-416B-945E-24E38E13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0"/>
            <a:ext cx="4667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A04EC-CB87-4987-A899-D824CF65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104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preprocessing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73420-1215-4294-8BB0-C33C71DC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0"/>
            <a:ext cx="4667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D372D-3A95-4B77-92C5-7819BDA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0676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Prophet + Optuna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2AF7A-5C99-45FF-A877-9A5BEA72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0"/>
            <a:ext cx="4667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447C4-02AD-4BEF-9BD3-621A4AB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9249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collection orchestration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9E243-1546-49E4-8365-66518A01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DATABRICKS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A6E2C-FE6B-4F0D-B253-5F4D200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19046-435B-43A4-9FF6-BDC49319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530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Spark / Delta 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FDAB9A-6F7B-4BD8-BDC3-6E9DCF0E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C282B-7964-4935-B5F4-2273C763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198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MLflow lineage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7842B-9021-4CBE-94B2-37FD97F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3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0CAF5-A3C2-4CAC-BD23-6DA26B57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486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Asset Bundle job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19FF0-2E94-4A02-8505-AA20A001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705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C1534-C1E2-4316-8B45-0D2963DA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85534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dev / acc / prd</a:t>
            </a:r>
          </a:p>
        </p:txBody>
      </p:sp>
    </p:spTree>
    <p:extLst>
      <p:ext uri="{BB962C8B-B14F-4D97-AF65-F5344CB8AC3E}">
        <p14:creationId xmlns:p14="http://schemas.microsoft.com/office/powerpoint/2010/main" val="1526643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927B4-DF37-4C32-8B03-AB0B95A8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TIME-AWARE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09D88-0642-4376-9056-1C38D21F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D6C96-B900-40D1-85A1-9081847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0805D-C089-406C-AE89-277238AF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7A5FC-6C12-42E2-9378-02DE4673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fit follows the same temporal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23A3C-C97B-4A45-A952-9D7F45A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DDACD-7321-4B0D-A15C-1675DC1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8C783-B890-4ECC-BA03-3DDE3A8B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29150"/>
            <a:ext cx="57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578EE-4E3E-4C35-97DE-01B4AF0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52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Prepare daily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A639A-1A60-43B2-A0B0-342A0D62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43400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Expand dates; infer closures; preserve target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9E198-A67B-4D2D-997A-B45D73CB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EA2B9-0903-49D8-B4F3-CB1768B4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4B7D9-4890-4F08-B693-A39B9466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81775"/>
            <a:ext cx="57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A707F-BD49-44A3-A9DB-7D3F897D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Search with Prophet CV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3BB90-4F4A-4923-AB65-48772E9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96025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Derive initial, period, and horizon from available history.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F63A7-84A5-4690-9413-274D957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65C09-E3AA-4345-9B0A-155247C3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77175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383B7-DF50-4490-8212-F98FC41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8534400"/>
            <a:ext cx="57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09DDF-8160-4BB1-A675-3294F4A1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581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Refit selected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C382B-4523-4DD5-8B4D-44C8E75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248650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 logistic growth, regressors, holidays, and seasonalities.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C14A6-4814-48B7-B6A0-B23BFED7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72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73FD9-E4A5-424B-99D0-B77ABA54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98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E061C-913D-468E-902C-C29166B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107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Forecast +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91CEA-1C59-4777-8789-941397CE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0201275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Emit point/bounds, status, parameters, and backtest rows.</a:t>
            </a:r>
          </a:p>
        </p:txBody>
      </p:sp>
    </p:spTree>
    <p:extLst>
      <p:ext uri="{BB962C8B-B14F-4D97-AF65-F5344CB8AC3E}">
        <p14:creationId xmlns:p14="http://schemas.microsoft.com/office/powerpoint/2010/main" val="1463045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E58B8-4500-4F82-8706-C0465D04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REPRODUCIBILITY IS A DATA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8ABF-9511-4D41-B36A-B8E9B864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EDBDB-F960-413A-A08A-63A5F311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ABB43-28B9-44B1-83BF-93F0BC62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4EB32-AF82-4EC5-B9D8-C5227D07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 run carries enough evidence to be inspected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E6D51-7C09-48A0-8709-BB78EC7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891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C6498-FEDF-4A8C-A245-0D4CE2FC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33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04242-FFA1-4039-92B5-C8A37A26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62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32723-B242-4CC1-A721-A7DC727F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validated overlay +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4CA43-F077-486E-B7EF-88C44085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91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61DDA-8EA8-4918-91DD-48BDD3AF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33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E240C-8273-4E37-ABE5-4FA6B41A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47160-3154-4711-A95A-978EB7BA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Delta table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6DA4F-E9BF-477E-B9B0-E41120AC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10375"/>
            <a:ext cx="891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DD7D6-565D-47A8-898A-0C45EAFC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10375"/>
            <a:ext cx="133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0BE1C-99A5-42AE-86EE-BA08F5A0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38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AC588-3AD7-4BAC-8F84-804A889C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000875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version + locked dependencies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EC95D-D60C-4956-81B3-BAD6CB3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0"/>
            <a:ext cx="891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F3BD0-BBBA-44BF-9875-45FFF09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0"/>
            <a:ext cx="133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988CA-9705-42FB-A5BE-AEF844D0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515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AD7DF-6184-4529-8DA5-F2CE827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4772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counts, statuses, metrics, parameters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4240C-38E2-4C75-A2A4-395B044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44125"/>
            <a:ext cx="8915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E1210-C034-4B03-8831-02AD0D22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203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ONE MLFLOW COLLECTION RUN</a:t>
            </a:r>
          </a:p>
        </p:txBody>
      </p:sp>
    </p:spTree>
    <p:extLst>
      <p:ext uri="{BB962C8B-B14F-4D97-AF65-F5344CB8AC3E}">
        <p14:creationId xmlns:p14="http://schemas.microsoft.com/office/powerpoint/2010/main" val="7807496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C8736-7943-4DFA-9426-E931F2A9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SYNTHETIC EXECUTION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7611B-FD71-4210-8529-3C0BF00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BA75F-61B4-49EC-8F78-B6EBB54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2433F-C42B-430B-B2A9-DD8165F5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11CCA-EAAC-4880-951C-858FD45D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repository runs the full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46E6F-43B2-4111-8748-61FF3152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· 3-calendar-month horizon · 80% interval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36989-F60F-4AAF-9178-44EE3184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9154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1000125" y="4524375"/>
          <a:ext xmlns:a="http://schemas.openxmlformats.org/drawingml/2006/main" cx="82867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b008c549eb4ce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7D231-B33A-4222-8ACD-D322B71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3C55A-6C07-418D-A923-829B0CC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fits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8D2F8-C3F5-42A5-8342-24674FE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4297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4088B-F537-4DF3-A76A-CE7C173D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0058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failed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33B75-95B2-467E-8F8F-DB7BE06F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4297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544A3-5150-45B6-8A17-359A8AD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058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forecast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4B91-5A67-4F67-B9F6-E3C926EB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94297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84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394DE-17CC-4F34-B977-F2064BB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0058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backtest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2C902-B154-4DFB-9A26-AE00A79D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0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Synthetic demonstration — not production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03008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736C3-8A8B-4925-A419-18EA73F5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DELIBERATE SCOPE BEATS CHECKBOX MLOPS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B31CF-5CC8-486F-9B12-81CE5A70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12A28-F1D6-4825-AA59-300EA19D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E0678-58B4-4FC8-8062-9767308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BB91F-DF97-4951-9126-01582AB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the operating surface the use case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F30E9-63FA-40E7-9639-EE2B92B9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891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Implemented because batch forecasting needs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47D1E-8D54-4579-B992-3CD4377A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956F6-15C5-4F58-8637-273A20A5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2CE89-50C9-434B-9AA6-A69C9440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stable Delta contracts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8CC97-D18C-4AE4-9650-1726F4F3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9A15F-7A5F-40D6-BA50-7162775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51604-D4D1-41DE-A620-0437471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collection-level lineage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FCD43-1454-4B73-955B-AA2F390B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776D6-51D9-4057-9751-F38013E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95E5C-EA93-421A-AFC1-4E6521A5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436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idempotent retries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E7800-A09C-4C34-997C-A553B20F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0AD5A-B704-45AF-AD65-D541E4A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388AC-3A9E-468F-90BF-737D70CF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199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environment overlays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E1640-E073-496F-B649-AB3A2CC6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24FE4-1C92-488C-916C-270ACF9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05800"/>
            <a:ext cx="891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Not invented without a consumer or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FCE95-6954-45B8-9AFB-9320E8AB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24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A4B2B-62E6-42A0-AEBE-E978E0CE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105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online serving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4756F-BEF6-45E1-87F0-4114470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774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948C0-B146-4513-BB1E-0D9CAEAF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658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model-per-fit registry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05B03-BD0B-4183-B529-A73F955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29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C2572-6D24-4AEA-B1F6-249338EB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210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automatic promotion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7BA5D-196D-48E0-B693-B913303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82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8B2E7-A5B9-47FB-BE1B-28EDD90A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763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unsupported 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18675347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41337-E57A-4617-950C-562E68D3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EXPLORE THE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DE435-A0FE-4263-B2D0-EFF1F4CA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D8E96-3E67-4129-B973-DEEBB0F9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15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CB4B8-9D3B-48A5-86DC-B975D849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PROPHET FORECASTING 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D9559-B870-4EF6-AF1E-5BD5D76F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15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Forecasting MLOps you can inspect, run, and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24509-D109-425B-B736-FD609535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Python package · Prophet + Optuna · MLflow · Delta · Databricks Asset Bundles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DEDB8-6BE6-4230-BE1A-8B89C2B6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9154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1F32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C373C-7A48-4A56-98DA-19E7CFCA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48375"/>
            <a:ext cx="8039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soulipaco/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prophet-forecasting-mlops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40DA5-E858-44BB-B0A7-CE324675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753350"/>
            <a:ext cx="392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349E1-FA24-4532-81A4-617A71B9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877300"/>
            <a:ext cx="8039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Read the architecture. Run the synthetic demo. Inspect every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D71E5-3855-4B4B-A879-BA28B9B4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382250"/>
            <a:ext cx="5334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95DFC-FA51-46DA-8E3E-9CA36E0E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515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GITHUB PORTFOLIO PROJECT</a:t>
            </a:r>
          </a:p>
        </p:txBody>
      </p:sp>
    </p:spTree>
    <p:extLst>
      <p:ext uri="{BB962C8B-B14F-4D97-AF65-F5344CB8AC3E}">
        <p14:creationId xmlns:p14="http://schemas.microsoft.com/office/powerpoint/2010/main" val="1711236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2026-07-16T21:13:02.9690000Z</dcterms:created>
  <dcterms:modified xsi:type="dcterms:W3CDTF">2026-07-16T21:13:02.9690000Z</dcterms:modified>
</coreProperties>
</file>